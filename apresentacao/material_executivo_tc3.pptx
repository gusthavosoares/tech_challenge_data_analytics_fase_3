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tese do trabalho é a distância entre o que a pessoa já faz com IA e o que a empresa trata como prioridade.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 em dourado porque é a pergunta que organiza a narrativa: as outras seis alimentam a resposta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o resto da apresentação sustenta. Os três números têm bases diferentes e isso é dito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Data Catalog aparece como camada transversal, não como etapa: um crawler cataloga Bronze, Silver e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que separa o trabalho de uma leitura ingênua da pesquisa. Vale gastar tempo nele na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central do trabalho. As duas séries têm denominadores diferentes e isso está dito no subtítulo do gráfico.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card tem decisão, motivo e o indicador com a base. Nenhuma recomendação aqui é opinião solta.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brasileiro de Dados e IA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contratar, quanto custa e por que a adoção de IA já aconteceu sem a empresa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2011680" cy="0"/>
          </a:xfrm>
          <a:prstGeom prst="line">
            <a:avLst/>
          </a:prstGeom>
          <a:noFill/>
          <a:ln w="25400">
            <a:solidFill>
              <a:srgbClr val="C08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edições da pesquisa State of Data Brasil · 14.002 respondentes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S3, Glue e Athena na AWS · Tech Challenge Fase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PosTech Data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de negócio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pergunta, o que precisa decidir e com que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de grande porte quer expandir a área de Dados, Analytics e IA. Antes de definir contratação, capacitação e investimento, precisa entender o mercado brasileiro.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decisões dependem disso: onde abrir vaga, quanto pagar por nível e onde colocar o dinheiro de IA.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4813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perguntas que este trabalho responde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1874520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8745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50608" y="18745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estruturado o mercado?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235915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35915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359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perfis são mais valorizados?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2843784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84378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8437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cenário de diversidade de gênero?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332841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33284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33284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tecnologias têm maior adoção?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813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3813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38130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índice de adoção de IA?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4297680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42976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4297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por região, senioridade e modelo?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78231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7823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50608" y="47823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oportunidades e desafios existem?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adoção de IA já aconteceu nas pessoas.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empresas, ainda não.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89,2%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pessoas usam IA no trabalho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9.494 não gestores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49,3%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empresas tratam como prioridade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2.593 gestores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0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39,9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percentuais de distância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gap não fecha em três edições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orçamento de IA tende a ir para ferramenta. O que falta é decisão corporativa.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arquitetura da solução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Glue e Athena, com o Data Catalog transversal às três camadas</a:t>
            </a:r>
            <a:endParaRPr lang="en-US" sz="1300" dirty="0"/>
          </a:p>
        </p:txBody>
      </p:sp>
      <p:pic>
        <p:nvPicPr>
          <p:cNvPr id="4" name="Image 0" descr="/home/claude/tc3/repo/docs/arquitetura_t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98448"/>
            <a:ext cx="5074920" cy="4837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00200"/>
            <a:ext cx="5303520" cy="1078992"/>
          </a:xfrm>
          <a:prstGeom prst="roundRect">
            <a:avLst>
              <a:gd name="adj" fmla="val 8475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728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02082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fiel da origem: 3 tabelas, tudo string, nome de coluna como veio do Kaggle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2807208"/>
            <a:ext cx="5303520" cy="1078992"/>
          </a:xfrm>
          <a:prstGeom prst="roundRect">
            <a:avLst>
              <a:gd name="adj" fmla="val 8475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935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22783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harmonizada das 3 edições: 14.002 linhas × 79 colunas, particionada por ano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4014216"/>
            <a:ext cx="5303520" cy="1078992"/>
          </a:xfrm>
          <a:prstGeom prst="roundRect">
            <a:avLst>
              <a:gd name="adj" fmla="val 8475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4142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43484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dimensional: 1 fato, 11 dimensões, catálogo de opções, bridge e 2 desconectadas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5221224"/>
            <a:ext cx="5303520" cy="1078992"/>
          </a:xfrm>
          <a:prstGeom prst="roundRect">
            <a:avLst>
              <a:gd name="adj" fmla="val 8475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5349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56418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responde as 7 perguntas em SQL; a Gold vira CSV e alimenta o dashboard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editável em docs/arquitetura_tc3.drawio · o mesmo código roda local e no Glue, sem ramificação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pipeline processou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origem bruta ao modelo que responde as perguntas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556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50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da pesquisa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399, 403 e 388 colunas na origem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7556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14.002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450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linha por pessoa por edição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7556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450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na Gold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fato, dimensões, catálogo e bridge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07424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63456" y="17556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378.231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363456" y="2450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marcações de múltipla escolha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28620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tabela bridge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03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origem não entregava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118872" cy="118872"/>
          </a:xfrm>
          <a:prstGeom prst="roundRect">
            <a:avLst>
              <a:gd name="adj" fmla="val 46154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coluna dizia a edição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114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arquivos vinham sem marca de ano; a Silver deduz pela data de envio e valida contra ela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118872" cy="118872"/>
          </a:xfrm>
          <a:prstGeom prst="roundRect">
            <a:avLst>
              <a:gd name="adj" fmla="val 46154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773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mudava de um ano para o outro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477316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399, 403 e 388 colunas, com nome e acento diferentes; 399 de-para levam tudo a um vocabulário só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486400"/>
            <a:ext cx="118872" cy="118872"/>
          </a:xfrm>
          <a:prstGeom prst="roundRect">
            <a:avLst>
              <a:gd name="adj" fmla="val 46154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431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colunas binárias por opção marcada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543153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viraram 17 grupos de múltipla escolha, modelados como catálogo mais bridge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método: cada percentual tem a sua base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blocos da pesquisa são condicionais, e usar a base errada inverte a leitura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2880360"/>
          </a:xfrm>
          <a:prstGeom prst="roundRect">
            <a:avLst>
              <a:gd name="adj" fmla="val 3175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de estratégia de IA só aparece para gestor. O de maturidade, só para quem faz engenharia de dados.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base, campo vazio quer dizer "não viu a pergunta" e zero quer dizer "viu e não marcou nada". Somar os dois no denominador muda o resultado, não só a precisão.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denominadores deste trabalho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14.002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1874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responderam a pesquisa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10.173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3500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empregados na área de dados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254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9.494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8254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responderam uso pessoal de IA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009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2.593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33009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gestores, bloco de estratégia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76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2.396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37764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engenheiros, bloco de maturidade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os 89,2% de adoção de IA saem de 9.494, não dos 14.002. Sobre a base cheia o número cairia para 60,5% e a tese desapareceria.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completa de bases está na tela Fontes e método do dashboard e em docs/RESPOSTA_P7.md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cargos concentram seis em cada dez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cargo, sobre os 10.173 empregados na área de dados</a:t>
            </a:r>
            <a:endParaRPr lang="en-US" sz="1300" dirty="0"/>
          </a:p>
        </p:txBody>
      </p:sp>
      <p:pic>
        <p:nvPicPr>
          <p:cNvPr id="6" name="Image 0" descr="/home/claude/tc3/repo/results/graficos/p1_merc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8429"/>
            <a:ext cx="7406640" cy="33183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481328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Analista, Cientista e Engenheiro de Dados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751076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Somam 58,6% da base. O mercado brasileiro de dados é mais estreito do que a lista de títulos sugere.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36876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cauda é longa e rala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706624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quarto cargo em diante nenhum passa de 11%. Product Manager de Dados e DBA ficam abaixo de 3%.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392424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muda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662172"/>
            <a:ext cx="33832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por perfil se concentra em três funções. Fora delas, a oferta de gente é escassa e o preço reflete isso.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profissional de dados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formação declarado, todas as edições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53,8%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pós-graduação ou acima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14.002 respondentes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mercado de entrada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0730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252 pessoas declararam não ter graduação formal, contra 5.164 com pós.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93108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paga, e o teto é o mestrado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77740"/>
            <a:ext cx="283464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R$ 10.201 na graduação, R$ 13.073 na pós e R$ 15.781 no mestrado. No doutorado ela cai para R$ 15.596.</a:t>
            </a:r>
            <a:endParaRPr lang="en-US" sz="1200" dirty="0"/>
          </a:p>
        </p:txBody>
      </p:sp>
      <p:pic>
        <p:nvPicPr>
          <p:cNvPr id="14" name="Image 0" descr="/home/claude/tc3/repo/results/graficos/c1_form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472078"/>
            <a:ext cx="7315200" cy="45082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degrau que a empresa consegue provocar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por senioridade, com o salto entre níveis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+95,1%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júnior para o pleno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R$ 4.048 para R$ 7.898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sênior custa 3,5 vezes o júnior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0730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R$ 14.117 contra R$ 4.048. Especialista e Staff+ chegam a R$ 19.685.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93108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é mais barato que disputar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62856"/>
            <a:ext cx="283464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de júnior para pleno é o único que a empresa provoca com treinamento, e é o mais rentável.</a:t>
            </a:r>
            <a:endParaRPr lang="en-US" sz="1200" dirty="0"/>
          </a:p>
        </p:txBody>
      </p:sp>
      <p:pic>
        <p:nvPicPr>
          <p:cNvPr id="14" name="Image 0" descr="/home/claude/tc3/repo/results/graficos/p2_perf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91" y="1417320"/>
            <a:ext cx="6455619" cy="46177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dinheiro está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por cargo, só cargos com 50 respondentes ou mais</a:t>
            </a:r>
            <a:endParaRPr lang="en-US" sz="1300" dirty="0"/>
          </a:p>
        </p:txBody>
      </p:sp>
      <p:pic>
        <p:nvPicPr>
          <p:cNvPr id="6" name="Image 0" descr="/home/claude/tc3/repo/results/graficos/c2_salario_car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0537"/>
            <a:ext cx="7406640" cy="32141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481328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de Dados lidera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751076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R$ 16.553 de média, seguido de Engenheiro de ML e IA com R$ 15.886.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36876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corte de 50 respondentes é proposital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706624"/>
            <a:ext cx="33832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Economista, DBA e Estatístico têm média alta com amostra pequena demais para sustentar decisão de salário.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579876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dentro do próprio mercado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849624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topo à base da lista há o dobro de salário para o mesmo setor.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participação feminina está caindo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mulheres sobre o total de respondentes, por edição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23,5%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mulheres na base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os 14.002 respondentes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edições, três quedas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0730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24,4% em 2023-24, 23,5% em 2024-25 e 22,0% em 2025-26.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93108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ruído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628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é consistente nas três medições e acompanha o encolhimento da base júnior.</a:t>
            </a:r>
            <a:endParaRPr lang="en-US" sz="1200" dirty="0"/>
          </a:p>
        </p:txBody>
      </p:sp>
      <p:pic>
        <p:nvPicPr>
          <p:cNvPr id="14" name="Image 0" descr="/home/claude/tc3/repo/results/graficos/p3_divers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3748" y="1417320"/>
            <a:ext cx="6694504" cy="46177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gap salarial cresce com a senioridade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homem ganha a mais, controlado por nível</a:t>
            </a:r>
            <a:endParaRPr lang="en-US" sz="1300" dirty="0"/>
          </a:p>
        </p:txBody>
      </p:sp>
      <p:pic>
        <p:nvPicPr>
          <p:cNvPr id="6" name="Image 0" descr="/home/claude/tc3/repo/results/graficos/c3_gap_senior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96" y="1325880"/>
            <a:ext cx="6893528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481328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pequeno e abre no topo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751076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5,6% no júnior e 1,9% no pleno, contra 15,2% no sênior.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36876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 por nível, de propósito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706624"/>
            <a:ext cx="33832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 média geral misturaria composição com remuneração: o gap aqui é entre pessoas do mesmo nível.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579876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decisão entra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849624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vazamento é a promoção para sênior, não a contratação de entrada.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acesso à liderança acompanha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cada gênero que ocupa posição de gestão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17,0%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mulheres são gestoras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22,0% dos homens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pontos de diferença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07308"/>
            <a:ext cx="283464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direção do gap salarial: a distância aparece na subida, não na porta de entrada.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8056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medidas independentes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5030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e cargo de gestão vêm de perguntas diferentes e apontam para o mesmo lugar.</a:t>
            </a:r>
            <a:endParaRPr lang="en-US" sz="1200" dirty="0"/>
          </a:p>
        </p:txBody>
      </p:sp>
      <p:pic>
        <p:nvPicPr>
          <p:cNvPr id="14" name="Image 0" descr="/home/claude/tc3/repo/results/graficos/c4_lide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011121"/>
            <a:ext cx="7315200" cy="343011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 Python são o piso, não o diferencial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adoção sobre quem respondeu o bloco de linguagens</a:t>
            </a:r>
            <a:endParaRPr lang="en-US" sz="1300" dirty="0"/>
          </a:p>
        </p:txBody>
      </p:sp>
      <p:pic>
        <p:nvPicPr>
          <p:cNvPr id="6" name="Image 0" descr="/home/claude/tc3/repo/results/graficos/p4_tecnolog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4661"/>
            <a:ext cx="7406640" cy="39658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481328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89,5% usam SQL e 85,3% Python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751076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9.007 respondentes do bloco. Da terceira colocada em diante, nenhuma passa de 13%.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36876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passa de 100%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706624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múltipla escolha: a pessoa marca quantas usa. O denominador é quem viu a pergunta.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392424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muda na contratação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66217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SQL e Python não filtra candidato. O que diferencia está na camada de plataforma.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é a norma, não a exceção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plataformas de nuvem, sobre quem respondeu o bloco</a:t>
            </a:r>
            <a:endParaRPr lang="en-US" sz="1300" dirty="0"/>
          </a:p>
        </p:txBody>
      </p:sp>
      <p:pic>
        <p:nvPicPr>
          <p:cNvPr id="6" name="Image 0" descr="/home/claude/tc3/repo/results/graficos/c5_clou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0110"/>
            <a:ext cx="7406640" cy="33349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481328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em 41,0%, Azure em 37,3%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751076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aparece em 31,5%. A soma passa de 100% porque a maioria usa mais de uma.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36876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ainda em 14,9%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706624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sétimo da base convive com infraestrutura própria, o que muda o desenho de qualquer migração.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392424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para o time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662172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para uma nuvem só ignora que a pessoa provavelmente já opera em duas.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adoção individual corre à frente da estratégia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populações distintas, dois denominadores diferentes, três edições</a:t>
            </a:r>
            <a:endParaRPr lang="en-US" sz="1300" dirty="0"/>
          </a:p>
        </p:txBody>
      </p:sp>
      <p:pic>
        <p:nvPicPr>
          <p:cNvPr id="6" name="Image 0" descr="/home/claude/tc3/repo/results/graficos/p5_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69160"/>
            <a:ext cx="5577840" cy="42225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463040"/>
            <a:ext cx="5074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não esperou a empresa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32788"/>
            <a:ext cx="5074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pessoal foi de 80,3% para 97,9% em três edições. É capacitação que aconteceu sozinha, sem programa corporativo.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418588"/>
            <a:ext cx="5074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anda, mas atrás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88336"/>
            <a:ext cx="5074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prioridade estratégica subiu de 36,2% para 60,6%. Sobe, e mesmo assim a distância não fecha.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374136"/>
            <a:ext cx="5074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37,3 pontos separam as duas em 2025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43884"/>
            <a:ext cx="5074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era de 44,1 pontos em 2023. Encolheu sete pontos em dois anos.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42232"/>
            <a:ext cx="5074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bases são diferentes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11980"/>
            <a:ext cx="5074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de uso pessoal é respondido por quem não é gestor; o de estratégia, só por gestor. Somar os dois inventaria uma população que não existe.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paga pela ferramenta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base de uso pessoal de IA, que exclui gestor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19,3%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a ferramenta paga pela empresa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9.494 no uso pessoal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usa versão gratuita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0730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52,5% trabalham com IA na versão free e 14,6% pagam do próprio bolso.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93108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 visto pelo bolso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628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é individual até no custeio. É o mesmo achado da tese, com outra evidência.</a:t>
            </a:r>
            <a:endParaRPr lang="en-US" sz="1200" dirty="0"/>
          </a:p>
        </p:txBody>
      </p:sp>
      <p:pic>
        <p:nvPicPr>
          <p:cNvPr id="14" name="Image 0" descr="/home/claude/tc3/repo/results/graficos/c6_quem_pa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372262"/>
            <a:ext cx="7315200" cy="270783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de um terço do talento está fora do Sudeste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por região de residência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37,8%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profissionais fora do eixo Sudeste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13.620 que declararam o estado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R$ 12.176 no Sudeste, R$ 9.159 no Nordeste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22192"/>
            <a:ext cx="2834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terço a mais pelo mesmo tipo de cargo.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2054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vaga rende mais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90288"/>
            <a:ext cx="283464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posição fora do eixo alcança um terço do mercado a um custo menor, antes de disputar preço em São Paulo.</a:t>
            </a:r>
            <a:endParaRPr lang="en-US" sz="1200" dirty="0"/>
          </a:p>
        </p:txBody>
      </p:sp>
      <p:pic>
        <p:nvPicPr>
          <p:cNvPr id="14" name="Image 0" descr="/home/claude/tc3/repo/results/graficos/p6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893464"/>
            <a:ext cx="7315200" cy="366543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de trabalho pesa mais que o mapa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por modelo, todas as regiões somadas</a:t>
            </a:r>
            <a:endParaRPr lang="en-US" sz="1300" dirty="0"/>
          </a:p>
        </p:txBody>
      </p:sp>
      <p:pic>
        <p:nvPicPr>
          <p:cNvPr id="6" name="Image 0" descr="/home/claude/tc3/repo/results/graficos/c7_modelo_trabal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0147"/>
            <a:ext cx="7406640" cy="3074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481328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R$ 7.874 no presencial, R$ 13.313 no híbrido flexível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96596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modelos é maior que a diferença entre regiões.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51760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separa é autonomia, não distância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921508"/>
            <a:ext cx="33832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flexível paga mais que o 100% remoto. Quem escolhe quando ir ao escritório está em posição mais sênior.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794760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a leitura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064508"/>
            <a:ext cx="33832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do efeito é composição: cargos mais sêniores negociam modelo. O número controlado por senioridade está no dashboard.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gargalo de IA é de gente, não de ferramenta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apontadas por gestores, múltipla escolha</a:t>
            </a:r>
            <a:endParaRPr lang="en-US" sz="1300" dirty="0"/>
          </a:p>
        </p:txBody>
      </p:sp>
      <p:pic>
        <p:nvPicPr>
          <p:cNvPr id="6" name="Image 0" descr="/home/claude/tc3/repo/results/graficos/p7_oportuni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6765"/>
            <a:ext cx="7406640" cy="28816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481328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maiores somam 79,8%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751076"/>
            <a:ext cx="33832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expertise com 40,3% e falta de compreensão do caso de uso com 39,5%. Nenhuma das duas é tecnologia.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24328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domina a conversa executiva não domina a prática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10896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regulatória fica em 14,4% e propriedade intelectual em 14,3%.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794760"/>
            <a:ext cx="3383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de orçamento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064508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licença sem investir em quem sabe aplicar ataca o problema errado.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2.090 gestores que marcaram ao menos uma barreira, nas três edições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29184"/>
            <a:ext cx="10405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pirâmide envelheceu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841248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senioridade, só os três níveis comparáveis entre as edições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que o júnior perdeu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29,7% em 2023-24 para 22,3% em 2025-26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sênior ocupou o espaço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60730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Subiu de 33,7% para 41,4% no mesmo período.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93108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corte é necessário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62856"/>
            <a:ext cx="283464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 Staff+ nasceram em 2025. Deixá-los na conta faria o júnior parecer subir, invertendo a leitura.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436108"/>
            <a:ext cx="28346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em dois anos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7058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forma hoje disputa sênior no mercado depois, no preço de sênior.</a:t>
            </a:r>
            <a:endParaRPr lang="en-US" sz="1200" dirty="0"/>
          </a:p>
        </p:txBody>
      </p:sp>
      <p:pic>
        <p:nvPicPr>
          <p:cNvPr id="16" name="Image 0" descr="/home/claude/tc3/repo/results/graficos/c8_piram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470" y="1417320"/>
            <a:ext cx="6709060" cy="46177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(Data Hackers + Bain), edições 2023-24, 2024-25 e 2025-26 · cada percentual sobre a base que viu a pergunta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recomenda ao cliente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decisões, cada uma com o indicador e a base que a sustentam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3677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367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636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governança de IA, não em treinamento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2082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capacitação individual já aconteceu. O que falta é decisão corporativa.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414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89,2% x 49,3%, distância de 39,9 pontos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36776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6367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5636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vaga fora do Sudeste antes de disputar preço nele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02082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terço do mercado está fora do eixo, a um custo menor pelo mesmo cargo.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4414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37,8% fora do Sudeste · R$ 9.159 x R$ 12.176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90088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209544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20954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1363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pleno a partir do júnior em vez de contratar sênior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59359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sênior custa 3,5 vezes o júnior e o salto para pleno quase dobra o salário.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1421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R$ 4.048 para R$ 7.898, +95,1%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2990088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209544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20954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1363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 gargalo de IA como falta de gente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59359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das barreiras que o gestor cita é de tecnologia.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01421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40,3% expertise · 39,5% caso de uso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562856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78231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7823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709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Recompor a base da pirâmide agora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16636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forma hoje disputa sênior daqui a dois anos, no preço de sênior.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5869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de 29,7% para 22,3% em três edições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4562856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4782312"/>
            <a:ext cx="475488" cy="384048"/>
          </a:xfrm>
          <a:prstGeom prst="roundRect">
            <a:avLst>
              <a:gd name="adj" fmla="val 19048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47823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4709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o próximo degrau da fundação de dados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516636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deixou de ser diferencial: oito em cada dez empresas já têm.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55869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82,4% com data lake, base 2.396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seis saem da tabela gold_dw_dim_recomendacao: a recomendação e o número que a sustenta vivem juntos no modelo.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Conferido contra fonte externa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referências públicas, cada uma com o uso declarado e a ressalva registrada</a:t>
            </a:r>
            <a:endParaRPr lang="en-US" sz="1300" dirty="0"/>
          </a:p>
        </p:txBody>
      </p:sp>
      <p:pic>
        <p:nvPicPr>
          <p:cNvPr id="4" name="Image 0" descr="/home/claude/tc3/repo/results/graficos/c9_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814" y="1371600"/>
            <a:ext cx="7823892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72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4718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4956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mesmo indicador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521208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referências: Cetic.br, Bain e CAGED. O salário do Cientista de Dados fica 16,6% acima do CAGED, que só cobre CLT sem bônus.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4572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53712" y="4718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53712" y="4956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até onde a conclusão vale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521208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referência. O Cetic.br mede uso de IA em empresas de 10+ funcionários; nós medimos prioridade estratégica. Não é o mesmo indicador.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46720" y="4572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02752" y="4718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02752" y="4956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que a nossa base não mede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302752" y="5212080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referências: Brasscom para déficit de formação, TEC.Institute e MIT para retorno de IA generativa.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primárias conferidas uma a uma · detalhe em docs/BENCHMARK_EXTERNO.md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estes números não dizem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ressalvas que a apresentação leva junto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653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0432" y="1645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 é autosselecionada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64592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descreve quem responde a um levantamento da comunidade Data Hackers, não o mercado inteiro. Serve para comparar recortes dentro dela, não para estimar o total do país.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90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0432" y="28712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salário é ponto médio da faixa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871216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é por faixa, então a média é estimada. Contra o CAGED, a diferença é de 2,4% no Cientista de Dados e 2,4% no Engenheiro, o que sustenta o uso comparativo.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3159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70432" y="40965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sobre 14.002 mente em bloco condicional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4096512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carrega a base ao lado. Um percentual sem denominador nesta pesquisa é um número que parece certo e não 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57216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5412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70432" y="532180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colunas parecem resposta única e não são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5321808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linguagem_preferida, cloud_preferida e ferramenta_bi_diaria aceitam múltipla marcação. Tratar como única perderia parte das respostas.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registradas em docs/DECISOES_E_ACHADOS.md, com a evidência de cada uma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que este trabalho sustenta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de IA não deve ir para treinar pessoa. Ela já se treinou.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ir para governança, para casos de uso e para recompor a base da pirâmide.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2011680" cy="0"/>
          </a:xfrm>
          <a:prstGeom prst="line">
            <a:avLst/>
          </a:prstGeom>
          <a:noFill/>
          <a:ln w="25400">
            <a:solidFill>
              <a:srgbClr val="C08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na AWS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47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três Glue Jobs em PySpark, crawler no Data Catalog e Athena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3447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tabelas na Gold, com o denominador de cada indicador explícito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98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telas em Power BI, o .pbix e o PDF no repositório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notebooks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498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notebooks, da ingestão à geração dos gráficos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State of Data Brasil, comunidade Data Hackers em parceria com a Bain &amp; Company. Edições 2023-2024, 2024-2025 e 2025-2026.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kaggle.com/datahackers/datasets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2026-09-07T06:41:17Z</dcterms:created>
  <dcterms:modified xsi:type="dcterms:W3CDTF">2026-09-07T06:41:17Z</dcterms:modified>
</cp:coreProperties>
</file>